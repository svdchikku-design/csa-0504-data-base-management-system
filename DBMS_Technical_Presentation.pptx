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84048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Architecture, Data Models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ER / EER Design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 •  Assessment Tool 3  •  Course Code: CSA05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120640"/>
            <a:ext cx="512064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3035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— Analyze DBMS architecture, data models, schema types, and design ER/EER diagrams, relational schemas for case-based scenarios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/ Registration No.: 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Questions, One Course Outcome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EAF3F5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14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85623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— Online Library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219456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relationships &amp; cardinalities for a real-world case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79192"/>
            <a:ext cx="914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275234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Model — University Case Study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83080" y="3090672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&amp; specialization of the Person entity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EAF3F5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75304"/>
            <a:ext cx="914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83080" y="364845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83080" y="3986784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vs. physical independence in the ANSI-SPARC architecture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71416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71416"/>
            <a:ext cx="914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83080" y="4544568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Software Components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83080" y="4882896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processor, storage manager &amp; transaction manager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67528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EAF3F5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367528"/>
            <a:ext cx="914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783080" y="544068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vs. Weak Entities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83080" y="577900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dependent entities with real-world examples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Diagram: Online Library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entities, attributes and relationships (BL2 — Understand)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ONLINE LIBRARY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Entities in the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sx="100000" sy="100000" kx="0" ky="0" algn="bl" rotWithShape="0" blurRad="76200" dist="25400" dir="5400000">
              <a:srgbClr val="8888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109728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099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BookID, Title, ISBN, Genre, CopiesAvailable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sx="100000" sy="100000" kx="0" ky="0" algn="bl" rotWithShape="0" blurRad="76200" dist="25400" dir="5400000">
              <a:srgbClr val="888899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600200"/>
            <a:ext cx="109728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7099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MemberID, Name, Email, MembershipDate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sx="100000" sy="100000" kx="0" ky="0" algn="bl" rotWithShape="0" blurRad="76200" dist="25400" dir="5400000">
              <a:srgbClr val="888899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600200"/>
            <a:ext cx="109728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7099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21031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AuthorID, Name, Nationality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sx="100000" sy="100000" kx="0" ky="0" algn="bl" rotWithShape="0" blurRad="76200" dist="25400" dir="5400000">
              <a:srgbClr val="88889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46120"/>
            <a:ext cx="109728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558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LIBRARIAN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3749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StaffID, Name, Shift, Designation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2461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sx="100000" sy="100000" kx="0" ky="0" algn="bl" rotWithShape="0" blurRad="76200" dist="25400" dir="5400000">
              <a:srgbClr val="888899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3246120"/>
            <a:ext cx="109728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3558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0" y="3749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LoanID, IssueDate, DueDate, ReturnDate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2461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sx="100000" sy="100000" kx="0" ky="0" algn="bl" rotWithShape="0" blurRad="76200" dist="25400" dir="5400000">
              <a:srgbClr val="888899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3246120"/>
            <a:ext cx="109728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33558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21040" y="3749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PublisherID, Name, Address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ONLINE LIBRARY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1737360" cy="64008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880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2880360"/>
            <a:ext cx="1737360" cy="64008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2880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2880360"/>
            <a:ext cx="1737360" cy="64008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880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41080" y="2880360"/>
            <a:ext cx="1737360" cy="64008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41080" y="28803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5074920"/>
            <a:ext cx="1737360" cy="64008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5074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1051560"/>
            <a:ext cx="1737360" cy="64008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0515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00300" y="2926080"/>
            <a:ext cx="822960" cy="548640"/>
          </a:xfrm>
          <a:prstGeom prst="diamond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00300" y="29260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74920" y="2926080"/>
            <a:ext cx="822960" cy="548640"/>
          </a:xfrm>
          <a:prstGeom prst="diamond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9260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95260" y="2926080"/>
            <a:ext cx="822960" cy="548640"/>
          </a:xfrm>
          <a:prstGeom prst="diamond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5260" y="29260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4069080"/>
            <a:ext cx="822960" cy="548640"/>
          </a:xfrm>
          <a:prstGeom prst="diamond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0690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71800" y="1897380"/>
            <a:ext cx="548640" cy="502920"/>
          </a:xfrm>
          <a:prstGeom prst="diamond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18973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0" y="3200400"/>
            <a:ext cx="137160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200400"/>
            <a:ext cx="45720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3200400"/>
            <a:ext cx="960120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200400"/>
            <a:ext cx="45720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3200400"/>
            <a:ext cx="960120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41080" y="3200400"/>
            <a:ext cx="9144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3520440"/>
            <a:ext cx="9144" cy="5486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2280" y="4617720"/>
            <a:ext cx="9144" cy="45720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1371600"/>
            <a:ext cx="9144" cy="5486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46120" y="2377440"/>
            <a:ext cx="9144" cy="50292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54580" y="3977640"/>
            <a:ext cx="1051560" cy="54864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54580" y="397764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726180" y="3977640"/>
            <a:ext cx="1051560" cy="54864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26180" y="397764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u="sng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 flipH="1">
            <a:off x="3017520" y="3520440"/>
            <a:ext cx="228600" cy="45720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0" y="3520440"/>
            <a:ext cx="9144" cy="45720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31720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063240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20640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89320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818120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75320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5989320"/>
            <a:ext cx="201168" cy="2011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9" name="Text 47"/>
          <p:cNvSpPr/>
          <p:nvPr/>
        </p:nvSpPr>
        <p:spPr>
          <a:xfrm>
            <a:off x="822960" y="59527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828800" y="5971032"/>
            <a:ext cx="237744" cy="237744"/>
          </a:xfrm>
          <a:prstGeom prst="diamond">
            <a:avLst/>
          </a:prstGeom>
          <a:solidFill>
            <a:srgbClr val="1C7293"/>
          </a:solidFill>
          <a:ln/>
        </p:spPr>
      </p:sp>
      <p:sp>
        <p:nvSpPr>
          <p:cNvPr id="51" name="Text 49"/>
          <p:cNvSpPr/>
          <p:nvPr/>
        </p:nvSpPr>
        <p:spPr>
          <a:xfrm>
            <a:off x="214884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11880" y="5971032"/>
            <a:ext cx="274320" cy="219456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7764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ONLINE LIBRARY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&amp; Cardinality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EAF3F5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— WRITES — BOOK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8745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06640" y="17830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author can write many books; one book can have many co-authors.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34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— BORROWS — MEMBER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0" y="2926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2926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N (via LOAN)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06640" y="2834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may borrow many books over time; a book may be borrowed by many members, one at a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EAF3F5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86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— ISSUES — LOAN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0" y="39776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3977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06640" y="38862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librarian processes many loan transactions.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9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937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— PUBLISHES — BOOK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0" y="5029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0" y="5029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06640" y="49377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publisher publishes many books; each book has one publisher.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Model: University Case Study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and specialization of entities (BL2 — Understand)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UNIVERSITY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vs. Specialization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approach: combine lower-level entities that share common attributes into one higher-level entity.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+ FACULTY + STAFF  →  generalized into  PERSON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attributes (Name, DOB, Address) move up to the superclass — reducing redundancy.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78308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574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51460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approach: divide a higher-level entity into distinct lower-level entities based on unique characteristics.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37490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41148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 →  specialized into  STUDENT, FACULTY, STAFF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4983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subclass gets its own distinguishing attributes — e.g., Student gets CGPA; Faculty gets Department.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UNIVERSITY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Diagram — University Personnel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709160" y="1417320"/>
            <a:ext cx="2743200" cy="64008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11780" y="1508760"/>
            <a:ext cx="1143000" cy="45720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1780" y="1508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PersonID (PK)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06740" y="1508760"/>
            <a:ext cx="1143000" cy="45720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06740" y="1508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931920" y="1737360"/>
            <a:ext cx="777240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02168" y="1737360"/>
            <a:ext cx="27432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1737360"/>
            <a:ext cx="777240" cy="9144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2377440"/>
            <a:ext cx="640080" cy="45720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377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2057400"/>
            <a:ext cx="9144" cy="3200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3200400"/>
            <a:ext cx="2377440" cy="594360"/>
          </a:xfrm>
          <a:prstGeom prst="rect">
            <a:avLst/>
          </a:prstGeom>
          <a:solidFill>
            <a:srgbClr val="1C7293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200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3200400"/>
            <a:ext cx="2377440" cy="594360"/>
          </a:xfrm>
          <a:prstGeom prst="rect">
            <a:avLst/>
          </a:prstGeom>
          <a:solidFill>
            <a:srgbClr val="1C7293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00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0" y="3200400"/>
            <a:ext cx="2377440" cy="594360"/>
          </a:xfrm>
          <a:prstGeom prst="rect">
            <a:avLst/>
          </a:prstGeom>
          <a:solidFill>
            <a:srgbClr val="1C7293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3200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94560" y="2834640"/>
            <a:ext cx="3886200" cy="36576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2834640"/>
            <a:ext cx="9144" cy="36576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2834640"/>
            <a:ext cx="3886200" cy="36576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" y="4023360"/>
            <a:ext cx="1143000" cy="45720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" y="40233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05940" y="4023360"/>
            <a:ext cx="1143000" cy="45720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05940" y="40233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000500" y="4023360"/>
            <a:ext cx="1143000" cy="45720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00500" y="40233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09260" y="4023360"/>
            <a:ext cx="1143000" cy="45720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9260" y="40233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658100" y="4023360"/>
            <a:ext cx="1143000" cy="45720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58100" y="40233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121140" y="4023360"/>
            <a:ext cx="1143000" cy="457200"/>
          </a:xfrm>
          <a:prstGeom prst="ellipse">
            <a:avLst/>
          </a:prstGeom>
          <a:solidFill>
            <a:srgbClr val="EAF3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21140" y="40233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05840" y="3474720"/>
            <a:ext cx="274320" cy="5486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20240" y="3474720"/>
            <a:ext cx="457200" cy="5486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3474720"/>
            <a:ext cx="822960" cy="5486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760" y="3474720"/>
            <a:ext cx="9144" cy="5486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9600" y="3474720"/>
            <a:ext cx="274320" cy="5486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64040" y="3474720"/>
            <a:ext cx="228600" cy="548640"/>
          </a:xfrm>
          <a:prstGeom prst="line">
            <a:avLst/>
          </a:prstGeom>
          <a:noFill/>
          <a:ln w="15875">
            <a:solidFill>
              <a:srgbClr val="9AA7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50749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EAF3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52120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used: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(d) — a person can belong to only one subclass at a time (e.g., a Student is not simultaneously Faculty). Attribute and relationship inheritance means every subclass automatically inherits PersonID and Name from PERSON.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Independence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physical independence in DBMS architecture (BL2 — Understand)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DATA INDEPENDENCE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Three-Schema (ANSI-SPARC)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463040" y="141732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14904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176479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views — how individual users see their portion of the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63040" y="237744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2450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LEVEL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272491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(logical) view — entities, relationships, constraints for the whole database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63040" y="333756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34107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LEVEL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368503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— file structures, indexes, access paths on disk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0" y="1417320"/>
            <a:ext cx="0" cy="9601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Independence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(External unaffected by Conceptual-level changes)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0" y="2377440"/>
            <a:ext cx="0" cy="9601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23774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Independence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(Conceptual unaffected by Internal-level changes)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EAF3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177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INDEPENDENCE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98348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change the conceptual (logical) schema — e.g., adding a new entity or attribute — without altering external views or application programs.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443484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EAF3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46177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INDEPENDENCE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55080" y="498348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change the internal (storage) schema — e.g., reorganizing files or adding an index — without altering the conceptual schema.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Software Components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processor, storage manager &amp; transaction manager (BL1 — Remember)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SOFTWARE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Software Components of a DBMS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sx="100000" sy="100000" kx="0" ky="0" algn="bl" rotWithShape="0" blurRad="63500" dist="25400" dir="5400000">
              <a:srgbClr val="88889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1819656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828800" y="219456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Parses, optimizes, and executes user queries (e.g., SQL). Converts high-level queries into an efficient low-level execution plan using the query optimizer.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sx="100000" sy="100000" kx="0" ky="0" algn="bl" rotWithShape="0" blurRad="63500" dist="25400" dir="5400000">
              <a:srgbClr val="88889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383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236976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828800" y="361188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how data is stored, retrieved, and updated on disk. Interfaces with the OS file system, buffer manager, and handles indexing.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sx="100000" sy="100000" kx="0" ky="0" algn="bl" rotWithShape="0" blurRad="63500" dist="25400" dir="5400000">
              <a:srgbClr val="888899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80060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800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4654296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828800" y="5029200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ACID properties — Atomicity, Consistency, Isolation, Durability — through concurrency control and recovery mechanisms.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SOFTWARE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Components Interact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SQL QUERY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8288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828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6560" y="18288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1828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966960" y="18288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996696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52560" y="38404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3840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(DISK)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2194560"/>
            <a:ext cx="822960" cy="9144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0" y="2194560"/>
            <a:ext cx="822960" cy="9144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0" y="2194560"/>
            <a:ext cx="822960" cy="9144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241280" y="2560320"/>
            <a:ext cx="640080" cy="128016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31520" y="49377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 optimizes and executes; transaction manager guarantees ACID compliance during execution; storage manager reads/writes pages to and from physical storage.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vs. Weak Entities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entity types in ER modelling with real-world examples (BL2 — Understand)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STRONG VS. WEAK ENTITIES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Entity vs. Weak Entity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3383280"/>
          </a:xfrm>
          <a:prstGeom prst="roundRect">
            <a:avLst>
              <a:gd name="adj" fmla="val 270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Has its own primary key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Exists independently of other entities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Represented by a single-line rectangle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Example: EMPLOYEE (EmpID as PK)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Example: ORDER (OrderID as PK)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5257800" cy="3383280"/>
          </a:xfrm>
          <a:prstGeom prst="roundRect">
            <a:avLst>
              <a:gd name="adj" fmla="val 2703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9659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24688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Has no primary key of its own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5080" y="29260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Depends on a strong (owner) entity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55080" y="33832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Represented by a double-line rectangle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5080" y="38404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Example: DEPENDENT (owned by EMPLOYEE)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55080" y="42976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Example: ORDER_ITEM (owned by ORDER)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371600" y="5349240"/>
            <a:ext cx="1828800" cy="548640"/>
          </a:xfrm>
          <a:prstGeom prst="rect">
            <a:avLst/>
          </a:prstGeom>
          <a:solidFill>
            <a:srgbClr val="065A82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5349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5394960"/>
            <a:ext cx="731520" cy="457200"/>
          </a:xfrm>
          <a:prstGeom prst="diamond">
            <a:avLst/>
          </a:prstGeom>
          <a:solidFill>
            <a:srgbClr val="1C7293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1880" y="5449824"/>
            <a:ext cx="548640" cy="347472"/>
          </a:xfrm>
          <a:prstGeom prst="diamond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5394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0" y="5349240"/>
            <a:ext cx="1920240" cy="548640"/>
          </a:xfrm>
          <a:prstGeom prst="rect">
            <a:avLst/>
          </a:prstGeom>
          <a:solidFill>
            <a:srgbClr val="1C7293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45152" y="5422392"/>
            <a:ext cx="1773936" cy="402336"/>
          </a:xfrm>
          <a:prstGeom prst="rect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5349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5623560"/>
            <a:ext cx="320040" cy="0"/>
          </a:xfrm>
          <a:prstGeom prst="line">
            <a:avLst/>
          </a:prstGeom>
          <a:noFill/>
          <a:ln w="15875">
            <a:solidFill>
              <a:srgbClr val="5A64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51960" y="5623560"/>
            <a:ext cx="320040" cy="0"/>
          </a:xfrm>
          <a:prstGeom prst="line">
            <a:avLst/>
          </a:prstGeom>
          <a:noFill/>
          <a:ln w="15875">
            <a:solidFill>
              <a:srgbClr val="5A64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50566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51960" y="50566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5394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rectangle = weak entity   |   Double diamond = identifying relationship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Together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28016" cy="128016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modelling captures real-world entities and relationships — the foundation of database design (Q1).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28016" cy="128016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8803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extends ER with generalization/specialization for hierarchical, real-world class structures (Q2).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128016" cy="128016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5661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 — logical &amp; physical — lets schemas evolve without breaking applications (Q3).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128016" cy="128016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2519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processor, storage manager, and transaction manager work together as the DBMS engine (Q4).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28016" cy="128016"/>
          </a:xfrm>
          <a:prstGeom prst="ellipse">
            <a:avLst/>
          </a:prstGeom>
          <a:solidFill>
            <a:srgbClr val="5FBDB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9377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and weak entities model both independent and dependent data objects accurately (Q5).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47472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361188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 •  CSA05  •  Assessment Tool 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2026-07-22T09:15:52Z</dcterms:created>
  <dcterms:modified xsi:type="dcterms:W3CDTF">2026-07-22T09:15:52Z</dcterms:modified>
</cp:coreProperties>
</file>